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Rate %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Marketing</c:v>
                  </c:pt>
                  <c:pt idx="1">
                    <c:v>HR</c:v>
                  </c:pt>
                  <c:pt idx="2">
                    <c:v>Finance</c:v>
                  </c:pt>
                  <c:pt idx="3">
                    <c:v>Legal</c:v>
                  </c:pt>
                  <c:pt idx="4">
                    <c:v>R&amp;D</c:v>
                  </c:pt>
                  <c:pt idx="5">
                    <c:v>Cust. Support</c:v>
                  </c:pt>
                  <c:pt idx="6">
                    <c:v>Engineering</c:v>
                  </c:pt>
                  <c:pt idx="7">
                    <c:v>Sales</c:v>
                  </c:pt>
                  <c:pt idx="8">
                    <c:v>Operations</c:v>
                  </c:pt>
                  <c:pt idx="9">
                    <c:v>IT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35.3</c:v>
                </c:pt>
                <c:pt idx="1">
                  <c:v>35.3</c:v>
                </c:pt>
                <c:pt idx="2">
                  <c:v>35.2</c:v>
                </c:pt>
                <c:pt idx="3">
                  <c:v>35.1</c:v>
                </c:pt>
                <c:pt idx="4">
                  <c:v>35</c:v>
                </c:pt>
                <c:pt idx="5">
                  <c:v>35</c:v>
                </c:pt>
                <c:pt idx="6">
                  <c:v>34.8</c:v>
                </c:pt>
                <c:pt idx="7">
                  <c:v>34.6</c:v>
                </c:pt>
                <c:pt idx="8">
                  <c:v>34.4</c:v>
                </c:pt>
                <c:pt idx="9">
                  <c:v>34.3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6"/>
          <c:min val="33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F172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F172A"/>
                </a:solidFill>
                <a:latin typeface="Arial"/>
              </a:rPr>
              <a:t>By Gender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%</c:v>
                </c:pt>
              </c:strCache>
            </c:strRef>
          </c:tx>
          <c:spPr>
            <a:solidFill>
              <a:srgbClr val="8B5C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B5CF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Female</c:v>
                  </c:pt>
                  <c:pt idx="1">
                    <c:v>Male</c:v>
                  </c:pt>
                  <c:pt idx="2">
                    <c:v>Non-Binary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34.7</c:v>
                </c:pt>
                <c:pt idx="1">
                  <c:v>35.3</c:v>
                </c:pt>
                <c:pt idx="2">
                  <c:v>34.6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7"/>
          <c:min val="33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F172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F172A"/>
                </a:solidFill>
                <a:latin typeface="Arial"/>
              </a:rPr>
              <a:t>By Marital Status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%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Divorced</c:v>
                  </c:pt>
                  <c:pt idx="1">
                    <c:v>Married</c:v>
                  </c:pt>
                  <c:pt idx="2">
                    <c:v>Single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33.5</c:v>
                </c:pt>
                <c:pt idx="1">
                  <c:v>33.7</c:v>
                </c:pt>
                <c:pt idx="2">
                  <c:v>37.5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9"/>
          <c:min val="32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F172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F172A"/>
                </a:solidFill>
                <a:latin typeface="Arial"/>
              </a:rPr>
              <a:t>By Age Group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%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22–25</c:v>
                  </c:pt>
                  <c:pt idx="1">
                    <c:v>26–35</c:v>
                  </c:pt>
                  <c:pt idx="2">
                    <c:v>36–45</c:v>
                  </c:pt>
                  <c:pt idx="3">
                    <c:v>46–55</c:v>
                  </c:pt>
                  <c:pt idx="4">
                    <c:v>56–62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34.7</c:v>
                </c:pt>
                <c:pt idx="1">
                  <c:v>34.8</c:v>
                </c:pt>
                <c:pt idx="2">
                  <c:v>34.8</c:v>
                </c:pt>
                <c:pt idx="3">
                  <c:v>34.8</c:v>
                </c:pt>
                <c:pt idx="4">
                  <c:v>35.3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7"/>
          <c:min val="33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F172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F172A"/>
                </a:solidFill>
                <a:latin typeface="Arial"/>
              </a:rPr>
              <a:t>By Education Level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%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High School</c:v>
                  </c:pt>
                  <c:pt idx="1">
                    <c:v>Assoc. Degree</c:v>
                  </c:pt>
                  <c:pt idx="2">
                    <c:v>Bachelor's</c:v>
                  </c:pt>
                  <c:pt idx="3">
                    <c:v>Master's</c:v>
                  </c:pt>
                  <c:pt idx="4">
                    <c:v>PhD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35.8</c:v>
                </c:pt>
                <c:pt idx="1">
                  <c:v>34</c:v>
                </c:pt>
                <c:pt idx="2">
                  <c:v>35</c:v>
                </c:pt>
                <c:pt idx="3">
                  <c:v>35.1</c:v>
                </c:pt>
                <c:pt idx="4">
                  <c:v>34.2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7"/>
          <c:min val="33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F172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F172A"/>
                </a:solidFill>
                <a:latin typeface="Arial"/>
              </a:rPr>
              <a:t>Top exit reasons (% of attrited employees)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exits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A580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333E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DB2777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65A30D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06B6D4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6366F1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Work-Life Balance</c:v>
                  </c:pt>
                  <c:pt idx="1">
                    <c:v>Health Issues</c:v>
                  </c:pt>
                  <c:pt idx="2">
                    <c:v>Company Culture</c:v>
                  </c:pt>
                  <c:pt idx="3">
                    <c:v>Personal Reasons</c:v>
                  </c:pt>
                  <c:pt idx="4">
                    <c:v>Job Insecurity</c:v>
                  </c:pt>
                  <c:pt idx="5">
                    <c:v>Relocation</c:v>
                  </c:pt>
                  <c:pt idx="6">
                    <c:v>Manager Conflict</c:v>
                  </c:pt>
                  <c:pt idx="7">
                    <c:v>Career Growth</c:v>
                  </c:pt>
                  <c:pt idx="8">
                    <c:v>Better Opportunity</c:v>
                  </c:pt>
                  <c:pt idx="9">
                    <c:v>Higher Salary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10.3</c:v>
                </c:pt>
                <c:pt idx="1">
                  <c:v>10.2</c:v>
                </c:pt>
                <c:pt idx="2">
                  <c:v>10</c:v>
                </c:pt>
                <c:pt idx="3">
                  <c:v>10</c:v>
                </c:pt>
                <c:pt idx="4">
                  <c:v>10</c:v>
                </c:pt>
                <c:pt idx="5">
                  <c:v>10</c:v>
                </c:pt>
                <c:pt idx="6">
                  <c:v>10</c:v>
                </c:pt>
                <c:pt idx="7">
                  <c:v>9.9</c:v>
                </c:pt>
                <c:pt idx="8">
                  <c:v>9.8</c:v>
                </c:pt>
                <c:pt idx="9">
                  <c:v>9.8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"/>
          <c:min val="9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F172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F172A"/>
                </a:solidFill>
                <a:latin typeface="Arial"/>
              </a:rPr>
              <a:t>Job satisfaction vs attrition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Attrited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Score 1</c:v>
                  </c:pt>
                  <c:pt idx="1">
                    <c:v>Score 2</c:v>
                  </c:pt>
                  <c:pt idx="2">
                    <c:v>Score 3</c:v>
                  </c:pt>
                  <c:pt idx="3">
                    <c:v>Score 4</c:v>
                  </c:pt>
                  <c:pt idx="4">
                    <c:v>Score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3970</c:v>
                </c:pt>
                <c:pt idx="1">
                  <c:v>3860</c:v>
                </c:pt>
                <c:pt idx="2">
                  <c:v>3126</c:v>
                </c:pt>
                <c:pt idx="3">
                  <c:v>2813</c:v>
                </c:pt>
                <c:pt idx="4">
                  <c:v>2821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Active</c:v>
                </c:pt>
              </c:strCache>
            </c:strRef>
          </c:tx>
          <c:spPr>
            <a:solidFill>
              <a:srgbClr val="1580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Score 1</c:v>
                  </c:pt>
                  <c:pt idx="1">
                    <c:v>Score 2</c:v>
                  </c:pt>
                  <c:pt idx="2">
                    <c:v>Score 3</c:v>
                  </c:pt>
                  <c:pt idx="3">
                    <c:v>Score 4</c:v>
                  </c:pt>
                  <c:pt idx="4">
                    <c:v>Score 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5420</c:v>
                </c:pt>
                <c:pt idx="1">
                  <c:v>5337</c:v>
                </c:pt>
                <c:pt idx="2">
                  <c:v>7429</c:v>
                </c:pt>
                <c:pt idx="3">
                  <c:v>6470</c:v>
                </c:pt>
                <c:pt idx="4">
                  <c:v>6320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chart" Target="/ppt/charts/chart4.xml"/><Relationship Id="rId4" Type="http://schemas.openxmlformats.org/officeDocument/2006/relationships/chart" Target="/ppt/charts/chart5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2011680"/>
          </a:xfrm>
          <a:prstGeom prst="rect">
            <a:avLst/>
          </a:prstGeom>
          <a:solidFill>
            <a:srgbClr val="172554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2011680"/>
            <a:ext cx="2011680" cy="1097280"/>
          </a:xfrm>
          <a:prstGeom prst="rect">
            <a:avLst/>
          </a:prstGeom>
          <a:solidFill>
            <a:srgbClr val="1E3A8A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3152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Attrition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Report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5029200" cy="36576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5146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Intelligence &amp; People Analytics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3063240"/>
            <a:ext cx="1920240" cy="822960"/>
          </a:xfrm>
          <a:prstGeom prst="rect">
            <a:avLst/>
          </a:prstGeom>
          <a:solidFill>
            <a:srgbClr val="1E2A4A"/>
          </a:solidFill>
          <a:ln w="12700">
            <a:solidFill>
              <a:srgbClr val="1E40A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31089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47,566 employees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606040" y="3063240"/>
            <a:ext cx="1920240" cy="822960"/>
          </a:xfrm>
          <a:prstGeom prst="rect">
            <a:avLst/>
          </a:prstGeom>
          <a:solidFill>
            <a:srgbClr val="1E2A4A"/>
          </a:solidFill>
          <a:ln w="12700">
            <a:solidFill>
              <a:srgbClr val="1E40A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606040" y="31089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Rate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606040" y="33832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34.9%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54880" y="3063240"/>
            <a:ext cx="1920240" cy="822960"/>
          </a:xfrm>
          <a:prstGeom prst="rect">
            <a:avLst/>
          </a:prstGeom>
          <a:solidFill>
            <a:srgbClr val="1E2A4A"/>
          </a:solidFill>
          <a:ln w="12700">
            <a:solidFill>
              <a:srgbClr val="1E40A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0" y="31089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54880" y="33832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903720" y="3063240"/>
            <a:ext cx="1920240" cy="822960"/>
          </a:xfrm>
          <a:prstGeom prst="rect">
            <a:avLst/>
          </a:prstGeom>
          <a:solidFill>
            <a:srgbClr val="1E2A4A"/>
          </a:solidFill>
          <a:ln w="12700">
            <a:solidFill>
              <a:srgbClr val="1E40A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903720" y="31089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903720" y="33832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Data Analytics Team  |  Confidential — Internal Use Only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cover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focused sections from data overview to actionable recommendations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25880"/>
            <a:ext cx="54864" cy="9601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8988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138988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7830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47,566 records, 46 fields, cleaning process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423160"/>
            <a:ext cx="54864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48716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248716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Overview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28803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34.9% overall rate, department breakdown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520440"/>
            <a:ext cx="54864" cy="9601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58444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97280" y="358444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 Factors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39776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Overtime, WLB, travel, tenure &amp; more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1325880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1325880"/>
            <a:ext cx="54864" cy="9601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138988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86400" y="138988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Breakdown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0" y="17830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Gender, age, marital status analysis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2423160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2423160"/>
            <a:ext cx="54864" cy="9601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248716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486400" y="248716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Reasons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0" y="28803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employees leave — 10 categories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3520440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3520440"/>
            <a:ext cx="54864" cy="9601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358444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486400" y="358444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86400" y="39776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prioritised actions for leadership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Dataset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and validated employee records ready for analysis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1280160" cy="141732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128016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61872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47,566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20040" y="176479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21031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cleaning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755648" y="1097280"/>
            <a:ext cx="1280160" cy="1417320"/>
          </a:xfrm>
          <a:prstGeom prst="rect">
            <a:avLst/>
          </a:prstGeom>
          <a:solidFill>
            <a:srgbClr val="F0FDF4"/>
          </a:solidFill>
          <a:ln w="12700">
            <a:solidFill>
              <a:srgbClr val="1580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755648" y="1097280"/>
            <a:ext cx="1280160" cy="640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55648" y="1261872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30,976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755648" y="176479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Employees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755648" y="21031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65.1% retained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191256" y="1097280"/>
            <a:ext cx="1280160" cy="141732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91256" y="1097280"/>
            <a:ext cx="128016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91256" y="1261872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16,590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191256" y="176479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Attrited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191256" y="21031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the company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626864" y="1097280"/>
            <a:ext cx="1280160" cy="1417320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26864" y="1097280"/>
            <a:ext cx="128016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26864" y="1261872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34.9%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626864" y="176479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Rate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26864" y="21031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062472" y="1097280"/>
            <a:ext cx="1280160" cy="1417320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62472" y="1097280"/>
            <a:ext cx="12801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62472" y="1261872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 yrs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062472" y="176479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Tenure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062472" y="21031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company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498080" y="1097280"/>
            <a:ext cx="1280160" cy="1417320"/>
          </a:xfrm>
          <a:prstGeom prst="rect">
            <a:avLst/>
          </a:prstGeom>
          <a:solidFill>
            <a:srgbClr val="F5F3FF"/>
          </a:solidFill>
          <a:ln w="12700">
            <a:solidFill>
              <a:srgbClr val="6D28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498080" y="1097280"/>
            <a:ext cx="1280160" cy="6400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98080" y="1261872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$9,065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7498080" y="176479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Salary/Month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498080" y="21031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roles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65760" y="26974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Summary — 12 Issues Resolved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20040" y="3108960"/>
            <a:ext cx="2743200" cy="365760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3192" y="31089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Education str.title() bug fixed (40,864 rows)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0040" y="3529584"/>
            <a:ext cx="2743200" cy="365760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93192" y="3529584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JobRole acronym casing restored (8,747 rows)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20040" y="3950208"/>
            <a:ext cx="2743200" cy="365760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3192" y="395020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Duplicate EmployeeIDs removed (485 rows)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20040" y="4370832"/>
            <a:ext cx="2743200" cy="365760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93192" y="437083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Attrition mixed encoding standardised to Yes/No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246120" y="3108960"/>
            <a:ext cx="2743200" cy="365760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319272" y="31089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Age outliers removed (&lt;18 or &gt;80)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46120" y="3529584"/>
            <a:ext cx="2743200" cy="365760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19272" y="3529584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Salary impossible values cleaned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246120" y="3950208"/>
            <a:ext cx="2743200" cy="365760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319272" y="395020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3 cross-column logic errors corrected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246120" y="4370832"/>
            <a:ext cx="2743200" cy="365760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319272" y="437083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HireDate converted to datetime type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172200" y="3108960"/>
            <a:ext cx="2743200" cy="365760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45352" y="31089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Tenure recalculated using 2024 reference year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172200" y="3529584"/>
            <a:ext cx="2743200" cy="365760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45352" y="3529584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6 float columns cast to integer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172200" y="3950208"/>
            <a:ext cx="2743200" cy="365760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245352" y="395020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HourlyRate/DailyRate resynced to income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172200" y="4370832"/>
            <a:ext cx="2743200" cy="365760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245352" y="437083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LastPerformanceScore &amp; DistanceFromHome imputed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Attrition by Department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departments within a 1pp band — confirming an organisation-wide structural issue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005840"/>
          <a:ext cx="5486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126480" y="100584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126480" y="1005840"/>
            <a:ext cx="2743200" cy="54864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17920" y="10972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217920" y="146304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narrow attrition range (34.3%–35.3%) across all 10 departments is itself a critical finding.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attrition is uniformly spread, it signals organisation-wide factors — not department-specific problems.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263640" y="3108960"/>
            <a:ext cx="201168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37960" y="30632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(≥35.2%)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263640" y="3493008"/>
            <a:ext cx="201168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37960" y="344728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(≥35.0%)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263640" y="3877056"/>
            <a:ext cx="201168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37960" y="3831336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(&lt;35.0%)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4297680"/>
            <a:ext cx="2468880" cy="45720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91072" y="4325112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Target organisation-level drivers, not department-level fixes.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Key Risk Factors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conditions that significantly elevate attrition probability — ranked by impact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502920" cy="3657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0584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41248" y="1005840"/>
            <a:ext cx="2468880" cy="3657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0058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Factor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28416" y="1005840"/>
            <a:ext cx="1188720" cy="3657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28416" y="10058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Rate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35424" y="1005840"/>
            <a:ext cx="1188720" cy="3657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35424" y="10058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Rate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742432" y="1005840"/>
            <a:ext cx="1097280" cy="3657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42432" y="10058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858000" y="1005840"/>
            <a:ext cx="1234440" cy="3657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0" y="100584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1417320"/>
            <a:ext cx="502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6616" y="1472184"/>
            <a:ext cx="429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41248" y="1417320"/>
            <a:ext cx="24688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7824" y="1472184"/>
            <a:ext cx="2395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28416" y="1417320"/>
            <a:ext cx="11887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64992" y="1472184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41.5%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35424" y="1417320"/>
            <a:ext cx="11887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0" y="1472184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31.4%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742432" y="1417320"/>
            <a:ext cx="10972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79008" y="1472184"/>
            <a:ext cx="102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+10.1pp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858000" y="1417320"/>
            <a:ext cx="1234440" cy="594360"/>
          </a:xfrm>
          <a:prstGeom prst="rect">
            <a:avLst/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94576" y="1472184"/>
            <a:ext cx="1161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2075688"/>
            <a:ext cx="50292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6616" y="2130552"/>
            <a:ext cx="429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41248" y="2075688"/>
            <a:ext cx="246888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7824" y="2130552"/>
            <a:ext cx="2395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Work-Life Balance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328416" y="2075688"/>
            <a:ext cx="118872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64992" y="2130552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40.8%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35424" y="2075688"/>
            <a:ext cx="118872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0" y="2130552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34.1%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742432" y="2075688"/>
            <a:ext cx="109728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79008" y="2130552"/>
            <a:ext cx="102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+6.7pp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858000" y="2075688"/>
            <a:ext cx="1234440" cy="594360"/>
          </a:xfrm>
          <a:prstGeom prst="rect">
            <a:avLst/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94576" y="2130552"/>
            <a:ext cx="1161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20040" y="2734056"/>
            <a:ext cx="502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56616" y="2788920"/>
            <a:ext cx="429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41248" y="2734056"/>
            <a:ext cx="24688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77824" y="2788920"/>
            <a:ext cx="2395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Travel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328416" y="2734056"/>
            <a:ext cx="11887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364992" y="2788920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39.1%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535424" y="2734056"/>
            <a:ext cx="11887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0" y="2788920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33.7%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742432" y="2734056"/>
            <a:ext cx="10972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779008" y="2788920"/>
            <a:ext cx="102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+5.4pp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858000" y="2734056"/>
            <a:ext cx="1234440" cy="594360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94576" y="2788920"/>
            <a:ext cx="1161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320040" y="3392424"/>
            <a:ext cx="50292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56616" y="3447288"/>
            <a:ext cx="429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841248" y="3392424"/>
            <a:ext cx="246888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77824" y="3447288"/>
            <a:ext cx="2395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Marital Status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3328416" y="3392424"/>
            <a:ext cx="118872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364992" y="3447288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37.5%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4535424" y="3392424"/>
            <a:ext cx="118872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72000" y="3447288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33.5%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5742432" y="3392424"/>
            <a:ext cx="109728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779008" y="3447288"/>
            <a:ext cx="102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+4.0pp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6858000" y="3392424"/>
            <a:ext cx="1234440" cy="594360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894576" y="3447288"/>
            <a:ext cx="1161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320040" y="4050792"/>
            <a:ext cx="502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56616" y="4105656"/>
            <a:ext cx="429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841248" y="4050792"/>
            <a:ext cx="24688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77824" y="4105656"/>
            <a:ext cx="2395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10+ Years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3328416" y="4050792"/>
            <a:ext cx="11887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364992" y="4105656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35.6%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4535424" y="4050792"/>
            <a:ext cx="11887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572000" y="4105656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33.8%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5742432" y="4050792"/>
            <a:ext cx="10972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779008" y="4105656"/>
            <a:ext cx="102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+1.8pp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6858000" y="4050792"/>
            <a:ext cx="123444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894576" y="4105656"/>
            <a:ext cx="1161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320040" y="480060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 = percentage points. At-risk rate vs lowest rate observed for that variable.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Demographic Breakdown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rates segmented by gender, marital status, age group, and education level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20040" y="1005840"/>
          <a:ext cx="274320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3200400" y="1005840"/>
          <a:ext cx="274320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6080760" y="1005840"/>
            <a:ext cx="2834640" cy="192024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6080760" y="1005840"/>
            <a:ext cx="283464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172200" y="107899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employees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172200" y="141732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37.5%</a:t>
            </a:r>
            <a:endParaRPr lang="en-US" sz="4000" dirty="0"/>
          </a:p>
        </p:txBody>
      </p:sp>
      <p:sp>
        <p:nvSpPr>
          <p:cNvPr id="11" name="Text 7"/>
          <p:cNvSpPr/>
          <p:nvPr/>
        </p:nvSpPr>
        <p:spPr>
          <a:xfrm>
            <a:off x="6172200" y="20116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33.5–33.7% for other statuses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6172200" y="23774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+4pp above average</a:t>
            </a:r>
            <a:endParaRPr lang="en-US" sz="1000" dirty="0"/>
          </a:p>
        </p:txBody>
      </p:sp>
      <p:graphicFrame>
        <p:nvGraphicFramePr>
          <p:cNvPr id="13" name="Chart 2" descr=""/>
          <p:cNvGraphicFramePr/>
          <p:nvPr/>
        </p:nvGraphicFramePr>
        <p:xfrm>
          <a:off x="320040" y="3063240"/>
          <a:ext cx="420624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14" name="Chart 3" descr=""/>
          <p:cNvGraphicFramePr/>
          <p:nvPr/>
        </p:nvGraphicFramePr>
        <p:xfrm>
          <a:off x="4754880" y="3063240"/>
          <a:ext cx="416052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Exit Reasons &amp; Satisfaction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employees leave and how satisfaction links to attrition decisions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20040" y="1005840"/>
          <a:ext cx="47548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5212080" y="1005840"/>
          <a:ext cx="37033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5212080" y="3840480"/>
            <a:ext cx="3703320" cy="1097280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5212080" y="3840480"/>
            <a:ext cx="370332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303520" y="391363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dominant exit reason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303520" y="4206240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 reasons cluster at ~10% each. Employees leave due to accumulated dissatisfactions — not one fixable issue. A broad-based strategy is required.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Recommendations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prioritised actions — tied directly to data findings in this report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274320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" y="1033272"/>
            <a:ext cx="2633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— Next 30 Days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444752"/>
            <a:ext cx="2743200" cy="80467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444752"/>
            <a:ext cx="347472" cy="8046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627632"/>
            <a:ext cx="347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22376" y="148132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an overtime audit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22376" y="1783080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roles with structural overtime; redesign workloads or add headcount to reduce the 10.1pp attrition premium.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40" y="2331720"/>
            <a:ext cx="2743200" cy="80467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331720"/>
            <a:ext cx="347472" cy="8046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514600"/>
            <a:ext cx="347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22376" y="236829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WLB pulse survey for 4,816 at-risk employees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22376" y="2670048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employees rating WLB as Poor. Identify root causes and deploy targeted interventions immediately.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00400" y="1005840"/>
            <a:ext cx="283464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73552" y="1033272"/>
            <a:ext cx="2724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— Next Quarter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0" y="1444752"/>
            <a:ext cx="2834640" cy="804672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0" y="1444752"/>
            <a:ext cx="347472" cy="8046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1627632"/>
            <a:ext cx="347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02736" y="148132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business travel policy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02736" y="1783080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annual travel thresholds. Reduce the 5.4pp attrition premium for frequent travellers.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00400" y="2331720"/>
            <a:ext cx="2834640" cy="804672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2331720"/>
            <a:ext cx="347472" cy="8046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0" y="2514600"/>
            <a:ext cx="347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602736" y="236829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Single-employee retention programme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02736" y="2670048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flexibility and career development to close the 4pp gap vs married/divorced employees.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00400" y="3218688"/>
            <a:ext cx="2834640" cy="804672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0" y="3218688"/>
            <a:ext cx="347472" cy="8046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0" y="3401568"/>
            <a:ext cx="347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602736" y="325526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pathway review for 10+ yr staff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602736" y="3557016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career plateau for long-tenured employees showing the highest attrition at 35.6%.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200400" y="4105656"/>
            <a:ext cx="2834640" cy="804672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00400" y="4105656"/>
            <a:ext cx="347472" cy="8046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0" y="4288536"/>
            <a:ext cx="347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602736" y="414223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Differentiated retention for top performers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602736" y="4443984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grants, accelerated pay reviews. High performers leave at 34.8% — same as average.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126480" y="1005840"/>
            <a:ext cx="2834640" cy="38404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99632" y="1033272"/>
            <a:ext cx="2724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— 6 Months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126480" y="1444752"/>
            <a:ext cx="2834640" cy="80467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126480" y="1444752"/>
            <a:ext cx="347472" cy="80467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26480" y="1627632"/>
            <a:ext cx="347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528816" y="148132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Broad-based engagement programme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528816" y="1783080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 all top exit reasons simultaneously. No single fix will work given even 10% distribution.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126480" y="2331720"/>
            <a:ext cx="2834640" cy="80467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126480" y="2331720"/>
            <a:ext cx="347472" cy="80467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26480" y="2514600"/>
            <a:ext cx="347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6528816" y="236829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effectiveness review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528816" y="2670048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360-degree feedback programme. Manager Conflict is 7th most common exit reason.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126480" y="3218688"/>
            <a:ext cx="2834640" cy="80467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126480" y="3218688"/>
            <a:ext cx="347472" cy="80467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126480" y="3401568"/>
            <a:ext cx="347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R9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6528816" y="325526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salary benchmarking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528816" y="3557016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+ Better Opportunity = 19.6% of exits combined. Compensation review is overdue.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tells us — and what needs to happen next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1965960" cy="3108960"/>
          </a:xfrm>
          <a:prstGeom prst="rect">
            <a:avLst/>
          </a:prstGeom>
          <a:solidFill>
            <a:srgbClr val="1E2A4A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80160"/>
            <a:ext cx="196596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41732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34.9%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11480" y="210312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attrition rate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514600"/>
            <a:ext cx="17830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Approximately 1 in 3 employees has left. The rate is consistent across all 10 departments, indicating structural causes.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68880" y="1280160"/>
            <a:ext cx="1965960" cy="3108960"/>
          </a:xfrm>
          <a:prstGeom prst="rect">
            <a:avLst/>
          </a:prstGeom>
          <a:solidFill>
            <a:srgbClr val="1E2A4A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1280160"/>
            <a:ext cx="196596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141732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41.5%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2560320" y="210312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attrition rate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60320" y="2514600"/>
            <a:ext cx="17830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largest driver. A 10.1pp gap vs non-overtime workers. Workload redesign is the highest-priority intervention.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17720" y="1280160"/>
            <a:ext cx="1965960" cy="3108960"/>
          </a:xfrm>
          <a:prstGeom prst="rect">
            <a:avLst/>
          </a:prstGeom>
          <a:solidFill>
            <a:srgbClr val="1E2A4A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1280160"/>
            <a:ext cx="19659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141732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~10%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4709160" y="210312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exit reason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09160" y="2514600"/>
            <a:ext cx="17830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dominant reason. Employees leave due to accumulated pressure across WLB, culture, management, and career growth.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766560" y="1280160"/>
            <a:ext cx="1965960" cy="3108960"/>
          </a:xfrm>
          <a:prstGeom prst="rect">
            <a:avLst/>
          </a:prstGeom>
          <a:solidFill>
            <a:srgbClr val="1E2A4A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66560" y="1280160"/>
            <a:ext cx="196596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0" y="141732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34.8%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6858000" y="210312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performer attrition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0" y="2514600"/>
            <a:ext cx="17830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talent leaves at nearly the same rate as average performers. Differentiated retention for high performers is urgent.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4572000"/>
            <a:ext cx="850392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59943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Present to HRBP team for validation · Launch overtime audit within 30 days · WLB survey to 4,816 at-risk employees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Team  |  April 2026  |  47,566 records  |  employee_attrition_final.csv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Employee Attrition Analysis</dc:title>
  <dc:subject>PptxGenJS Presentation</dc:subject>
  <dc:creator>Data Analytics Team</dc:creator>
  <cp:lastModifiedBy>Data Analytics Team</cp:lastModifiedBy>
  <cp:revision>1</cp:revision>
  <dcterms:created xsi:type="dcterms:W3CDTF">2026-04-21T09:30:09Z</dcterms:created>
  <dcterms:modified xsi:type="dcterms:W3CDTF">2026-04-21T09:30:09Z</dcterms:modified>
</cp:coreProperties>
</file>